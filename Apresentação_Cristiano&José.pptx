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_rels/presentation.xml.rels" ContentType="application/vnd.openxmlformats-package.relationships+xml"/>
  <Override PartName="/ppt/media/image12.png" ContentType="image/png"/>
  <Override PartName="/ppt/media/image3.png" ContentType="image/png"/>
  <Override PartName="/ppt/media/image13.png" ContentType="image/png"/>
  <Override PartName="/ppt/media/image4.png" ContentType="image/png"/>
  <Override PartName="/ppt/media/image17.png" ContentType="image/png"/>
  <Override PartName="/ppt/media/image1.png" ContentType="image/png"/>
  <Override PartName="/ppt/media/image14.png" ContentType="image/png"/>
  <Override PartName="/ppt/media/image5.png" ContentType="image/png"/>
  <Override PartName="/ppt/media/image8.jpeg" ContentType="image/jpeg"/>
  <Override PartName="/ppt/media/image15.png" ContentType="image/png"/>
  <Override PartName="/ppt/media/image6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9.png" ContentType="image/png"/>
  <Override PartName="/ppt/media/image10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5080" cy="83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P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título</a:t>
            </a:r>
            <a:endParaRPr b="0" lang="pt-PT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932AA2-BF14-4938-A860-88E91011E041}" type="slidenum">
              <a: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2600" cy="7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P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título</a:t>
            </a:r>
            <a:endParaRPr b="0" lang="pt-P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2600" cy="317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nível de tópicos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Terceiro nível de tópicos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Quarto nível de tópicos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nível de tópicos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nível de tópicos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Sétimo nível de tópicos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2246EB-EC83-493D-9055-FE199AC18138}" type="slidenum">
              <a: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080" cy="56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P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título</a:t>
            </a:r>
            <a:endParaRPr b="0" lang="pt-P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4560" cy="341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Terceiro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Quarto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Sétimo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4560" cy="341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Terceiro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Quarto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Sétimo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88AEAC-9BD8-48E2-B987-9B00A38B9CA9}" type="slidenum">
              <a: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080" cy="56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P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título</a:t>
            </a:r>
            <a:endParaRPr b="0" lang="pt-P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3234E1-F3F8-4360-BE0A-4ADFA261CCF6}" type="slidenum">
              <a: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2280" cy="408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PT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título</a:t>
            </a:r>
            <a:endParaRPr b="0" lang="pt-PT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29AAEC-0B0F-4D29-93DB-7A4EFFC1AB43}" type="slidenum">
              <a: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6;p9"/>
          <p:cNvSpPr/>
          <p:nvPr/>
        </p:nvSpPr>
        <p:spPr>
          <a:xfrm>
            <a:off x="4572000" y="0"/>
            <a:ext cx="4566600" cy="5138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39920" cy="147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5000"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PT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título</a:t>
            </a:r>
            <a:endParaRPr b="0" lang="pt-PT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1480" cy="368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Terceiro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Quarto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Sétimo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4B177C-1115-4582-955E-C4EFE7306797}" type="slidenum">
              <a: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3280" cy="5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Terceiro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Quarto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Sétimo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3D2881-B28C-4629-819B-19C3DC9822E9}" type="slidenum">
              <a: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5080" cy="204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PT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título</a:t>
            </a:r>
            <a:endParaRPr b="0" lang="pt-PT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D8769D-44CD-4A7F-92E6-79472B986310}" type="slidenum">
              <a: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15080" cy="195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PT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pt-PT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15080" cy="129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00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Terceiro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Quarto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Sétimo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7B8377-4FA6-409C-B6CC-749315A53133}" type="slidenum">
              <a: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5080" cy="56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P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título</a:t>
            </a:r>
            <a:endParaRPr b="0" lang="pt-P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5080" cy="341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Terceiro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Quarto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Sétimo nível de tópicos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8E3D64-98C1-41BC-A255-9EE386B9E09D}" type="slidenum">
              <a: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B33AA9-DF5D-4C4F-80AB-4BA29B5B1E71}" type="slidenum">
              <a:rPr b="0" lang="pt-PT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título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20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Terceiro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Quarto nível de tópicos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nível de tópicos</a:t>
            </a:r>
            <a:endParaRPr b="0" lang="pt-P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nível de tópicos</a:t>
            </a:r>
            <a:endParaRPr b="0" lang="pt-P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Sétimo nível de tópicos</a:t>
            </a:r>
            <a:endParaRPr b="0" lang="pt-P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54;p13" descr=""/>
          <p:cNvPicPr/>
          <p:nvPr/>
        </p:nvPicPr>
        <p:blipFill>
          <a:blip r:embed="rId1"/>
          <a:stretch/>
        </p:blipFill>
        <p:spPr>
          <a:xfrm>
            <a:off x="4080960" y="385920"/>
            <a:ext cx="976680" cy="97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Google Shape;55;p13"/>
          <p:cNvSpPr/>
          <p:nvPr/>
        </p:nvSpPr>
        <p:spPr>
          <a:xfrm>
            <a:off x="2187720" y="1367640"/>
            <a:ext cx="4763160" cy="5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pt-PT" sz="1200" strike="noStrike" u="none">
                <a:solidFill>
                  <a:schemeClr val="dk1"/>
                </a:solidFill>
                <a:effectLst/>
                <a:highlight>
                  <a:srgbClr val="f5f5f5"/>
                </a:highlight>
                <a:uFillTx/>
                <a:latin typeface="Arial"/>
                <a:ea typeface="Arial"/>
              </a:rPr>
              <a:t>INSTITUTO POLITÉCNICO INDUSTRIAL DO KILAMBA KIAXI</a:t>
            </a:r>
            <a:r>
              <a:rPr b="0" lang="pt-PT" sz="1200" strike="noStrike" u="none">
                <a:solidFill>
                  <a:schemeClr val="dk1"/>
                </a:solidFill>
                <a:effectLst/>
                <a:highlight>
                  <a:srgbClr val="f5f5f5"/>
                </a:highlight>
                <a:uFillTx/>
                <a:latin typeface="Arial"/>
                <a:ea typeface="Arial"/>
              </a:rPr>
              <a:t>​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1" lang="pt-PT" sz="1200" strike="noStrike" u="none">
                <a:solidFill>
                  <a:schemeClr val="dk1"/>
                </a:solidFill>
                <a:effectLst/>
                <a:highlight>
                  <a:srgbClr val="f5f5f5"/>
                </a:highlight>
                <a:uFillTx/>
                <a:latin typeface="Arial"/>
                <a:ea typeface="Arial"/>
              </a:rPr>
              <a:t>Nº 8056 “NOVA VIDA”</a:t>
            </a:r>
            <a:r>
              <a:rPr b="0" lang="pt-PT" sz="1200" strike="noStrike" u="none">
                <a:solidFill>
                  <a:schemeClr val="dk1"/>
                </a:solidFill>
                <a:effectLst/>
                <a:highlight>
                  <a:srgbClr val="f5f5f5"/>
                </a:highlight>
                <a:uFillTx/>
                <a:latin typeface="Arial"/>
                <a:ea typeface="Arial"/>
              </a:rPr>
              <a:t>​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pt-PT" sz="1800" strike="noStrike" u="none">
                <a:solidFill>
                  <a:schemeClr val="dk1"/>
                </a:solidFill>
                <a:effectLst/>
                <a:highlight>
                  <a:srgbClr val="f5f5f5"/>
                </a:highlight>
                <a:uFillTx/>
                <a:latin typeface="Arial"/>
                <a:ea typeface="Arial"/>
              </a:rPr>
              <a:t>​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Google Shape;56;p13" descr=""/>
          <p:cNvPicPr/>
          <p:nvPr/>
        </p:nvPicPr>
        <p:blipFill>
          <a:blip r:embed="rId2"/>
          <a:stretch/>
        </p:blipFill>
        <p:spPr>
          <a:xfrm>
            <a:off x="4128120" y="1943640"/>
            <a:ext cx="882360" cy="85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Google Shape;57;p13"/>
          <p:cNvSpPr/>
          <p:nvPr/>
        </p:nvSpPr>
        <p:spPr>
          <a:xfrm>
            <a:off x="2692440" y="2800800"/>
            <a:ext cx="37540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COMPLEXO ESCOLAR PRIVADO MONA TOWER</a:t>
            </a:r>
            <a:r>
              <a:rPr b="0" lang="pt-PT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 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58;p13"/>
          <p:cNvSpPr/>
          <p:nvPr/>
        </p:nvSpPr>
        <p:spPr>
          <a:xfrm>
            <a:off x="1446480" y="3162600"/>
            <a:ext cx="6245280" cy="97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 defTabSz="914400">
              <a:lnSpc>
                <a:spcPct val="106000"/>
              </a:lnSpc>
              <a:spcBef>
                <a:spcPts val="1199"/>
              </a:spcBef>
              <a:tabLst>
                <a:tab algn="l" pos="0"/>
              </a:tabLst>
            </a:pP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6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pt-PT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SISTEMA INTEGRADO DE GESTÃO E PROCESSAMENTO DE PAGAMENTOS PARA O COLÉGIO MONA TOWER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80000"/>
              </a:lnSpc>
              <a:spcBef>
                <a:spcPts val="99"/>
              </a:spcBef>
              <a:tabLst>
                <a:tab algn="l" pos="0"/>
              </a:tabLst>
            </a:pP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59;p13"/>
          <p:cNvSpPr/>
          <p:nvPr/>
        </p:nvSpPr>
        <p:spPr>
          <a:xfrm>
            <a:off x="3975840" y="4666680"/>
            <a:ext cx="118692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rmAutofit fontScale="25000" lnSpcReduction="19999"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pt-PT" sz="4800" strike="noStrike" u="none">
                <a:solidFill>
                  <a:schemeClr val="dk1"/>
                </a:solidFill>
                <a:effectLst/>
                <a:highlight>
                  <a:srgbClr val="f5f5f5"/>
                </a:highlight>
                <a:uFillTx/>
                <a:latin typeface="Arial"/>
                <a:ea typeface="Arial"/>
              </a:rPr>
              <a:t>Luanda​</a:t>
            </a:r>
            <a:endParaRPr b="0" lang="pt-PT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pt-PT" sz="4800" strike="noStrike" u="none">
                <a:solidFill>
                  <a:schemeClr val="dk1"/>
                </a:solidFill>
                <a:effectLst/>
                <a:highlight>
                  <a:srgbClr val="f5f5f5"/>
                </a:highlight>
                <a:uFillTx/>
                <a:latin typeface="Arial"/>
                <a:ea typeface="Arial"/>
              </a:rPr>
              <a:t>2025/26</a:t>
            </a:r>
            <a:endParaRPr b="0" lang="pt-PT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64;p14"/>
          <p:cNvSpPr/>
          <p:nvPr/>
        </p:nvSpPr>
        <p:spPr>
          <a:xfrm>
            <a:off x="3020400" y="638640"/>
            <a:ext cx="3097800" cy="6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Cristiano Alexandre Kamati Glória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4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 José Emanuel Rosário Preto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65;p14"/>
          <p:cNvSpPr/>
          <p:nvPr/>
        </p:nvSpPr>
        <p:spPr>
          <a:xfrm>
            <a:off x="647280" y="2088000"/>
            <a:ext cx="7843680" cy="11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 defTabSz="914400">
              <a:lnSpc>
                <a:spcPct val="106000"/>
              </a:lnSpc>
              <a:spcBef>
                <a:spcPts val="1199"/>
              </a:spcBef>
              <a:tabLst>
                <a:tab algn="l" pos="0"/>
              </a:tabLst>
            </a:pP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6000"/>
              </a:lnSpc>
              <a:spcBef>
                <a:spcPts val="1199"/>
              </a:spcBef>
              <a:spcAft>
                <a:spcPts val="99"/>
              </a:spcAft>
              <a:tabLst>
                <a:tab algn="l" pos="0"/>
              </a:tabLst>
            </a:pPr>
            <a:r>
              <a:rPr b="1" lang="pt-PT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SISTEMA INTEGRADO DE GESTÃO E PROCESSAMENTO DE PAGAMENTOS PARA O COLÉGIO MONA TOWER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66;p14"/>
          <p:cNvSpPr/>
          <p:nvPr/>
        </p:nvSpPr>
        <p:spPr>
          <a:xfrm>
            <a:off x="3978000" y="4701600"/>
            <a:ext cx="99036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Luanda​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2025/26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71;p15"/>
          <p:cNvSpPr/>
          <p:nvPr/>
        </p:nvSpPr>
        <p:spPr>
          <a:xfrm>
            <a:off x="549000" y="623160"/>
            <a:ext cx="28072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Introdução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72;p15"/>
          <p:cNvSpPr/>
          <p:nvPr/>
        </p:nvSpPr>
        <p:spPr>
          <a:xfrm>
            <a:off x="549000" y="1085040"/>
            <a:ext cx="7710120" cy="31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pt-PT" sz="1400" strike="noStrike" u="none">
                <a:solidFill>
                  <a:srgbClr val="0f1115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A eficiência na administração financeira é essencial para o bom funcionamento das instituições de ensino. Contudo, muitas escolas angolanas ainda enfrentam dificuldades relacionadas à gestão manual de serviços estudantis, controlo de pagamentos, emissão de relatórios e notificações de dívidas em papel.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pt-PT" sz="1400" strike="noStrike" u="none">
                <a:solidFill>
                  <a:srgbClr val="0f1115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Neste contexto, o presente projecto propõe o desenvolvimento de um Sistema Integrado de Gestão Financeira Escolar para o Colégio Mona Tower, com o objectivo de automatizar processos financeiros, melhorar o controlo administrativo e optimizar a comunicação com os encarregados de educação.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71;p15"/>
          <p:cNvSpPr/>
          <p:nvPr/>
        </p:nvSpPr>
        <p:spPr>
          <a:xfrm>
            <a:off x="549000" y="623160"/>
            <a:ext cx="28072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Situação Problemática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72;p15"/>
          <p:cNvSpPr/>
          <p:nvPr/>
        </p:nvSpPr>
        <p:spPr>
          <a:xfrm>
            <a:off x="549000" y="1085040"/>
            <a:ext cx="7710120" cy="31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pt-PT" sz="1400" strike="noStrike" u="none">
                <a:solidFill>
                  <a:srgbClr val="0f1115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O Colégio Mona Tower enfrenta dificuldades na gestão financeira devido à utilização de processos manuais no controlo de serviços estudantis, pagamentos, emissão de relatórios e notificações de dívidas. A dependência de registos físicos e comunicações em papel dificulta a organização e o acompanhamento eficiente das informações financeiras.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pt-PT" sz="1400" strike="noStrike" u="none">
                <a:solidFill>
                  <a:srgbClr val="0f1115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Além disso, a fragmentação entre sectores administrativos compromete o controlo de mensalidades e serviços recorrentes, aumentando o risco de erros, atrasos e inconsistências nos registos financeiros e na comunicação com os encarregados de educação.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77;p16"/>
          <p:cNvSpPr/>
          <p:nvPr/>
        </p:nvSpPr>
        <p:spPr>
          <a:xfrm>
            <a:off x="537120" y="627840"/>
            <a:ext cx="26866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Problema de Pesquisa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78;p16"/>
          <p:cNvSpPr/>
          <p:nvPr/>
        </p:nvSpPr>
        <p:spPr>
          <a:xfrm>
            <a:off x="537120" y="1318680"/>
            <a:ext cx="79124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26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pt-PT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Como tornar a gestão financeira do Colégio Mona Tower mais integrada, eficiente e fiável?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83;p17"/>
          <p:cNvSpPr/>
          <p:nvPr/>
        </p:nvSpPr>
        <p:spPr>
          <a:xfrm>
            <a:off x="549000" y="625680"/>
            <a:ext cx="1284480" cy="4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Hipóteses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84;p17"/>
          <p:cNvSpPr/>
          <p:nvPr/>
        </p:nvSpPr>
        <p:spPr>
          <a:xfrm>
            <a:off x="540000" y="1271160"/>
            <a:ext cx="7759080" cy="32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pt-PT" sz="1400" strike="noStrike" u="none">
                <a:solidFill>
                  <a:srgbClr val="0f1115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1º Desenvolver um sistema integrado de gestão e processamento de pagamentos.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pt-PT" sz="1400" strike="noStrike" u="none">
                <a:solidFill>
                  <a:srgbClr val="0f1115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2º Adquirir um software comercial de gestão escolar com módulos financeiros pré-definidos.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89;p18"/>
          <p:cNvSpPr/>
          <p:nvPr/>
        </p:nvSpPr>
        <p:spPr>
          <a:xfrm>
            <a:off x="536400" y="625680"/>
            <a:ext cx="15652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Justificativa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90;p18"/>
          <p:cNvSpPr/>
          <p:nvPr/>
        </p:nvSpPr>
        <p:spPr>
          <a:xfrm>
            <a:off x="536400" y="1087560"/>
            <a:ext cx="7721280" cy="17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pt-PT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 implementação do sistema permitirá centralizar e automatizar os processos financeiros do colégio, reduzindo erros e melhorando o controlo de mensalidades, pagamentos e serviços estudantis. Além disso, o envio de notificações automáticas aos encarregados contribuirá para uma comunicação mais eficiente e organizada.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95;p19"/>
          <p:cNvSpPr/>
          <p:nvPr/>
        </p:nvSpPr>
        <p:spPr>
          <a:xfrm>
            <a:off x="549000" y="625680"/>
            <a:ext cx="1322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Objetivos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96;p19"/>
          <p:cNvSpPr/>
          <p:nvPr/>
        </p:nvSpPr>
        <p:spPr>
          <a:xfrm>
            <a:off x="549000" y="1087560"/>
            <a:ext cx="15526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Objetivo Geral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97;p19"/>
          <p:cNvSpPr/>
          <p:nvPr/>
        </p:nvSpPr>
        <p:spPr>
          <a:xfrm>
            <a:off x="549000" y="1487880"/>
            <a:ext cx="7235640" cy="85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26000"/>
              </a:lnSpc>
              <a:spcBef>
                <a:spcPts val="11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pt-PT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Criar uma plataforma robusta, segura e eficiente que permita ao colégio melhorar o controlo financeiro.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8;p19"/>
          <p:cNvSpPr/>
          <p:nvPr/>
        </p:nvSpPr>
        <p:spPr>
          <a:xfrm>
            <a:off x="549000" y="2301840"/>
            <a:ext cx="21016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Objetivos Específicos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99;p19"/>
          <p:cNvSpPr/>
          <p:nvPr/>
        </p:nvSpPr>
        <p:spPr>
          <a:xfrm>
            <a:off x="549000" y="2647800"/>
            <a:ext cx="7542360" cy="20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17520" defTabSz="914400">
              <a:lnSpc>
                <a:spcPct val="115000"/>
              </a:lnSpc>
              <a:spcBef>
                <a:spcPts val="1199"/>
              </a:spcBef>
              <a:buClr>
                <a:srgbClr val="0f1115"/>
              </a:buClr>
              <a:buFont typeface="Arial"/>
              <a:buChar char="●"/>
            </a:pPr>
            <a:r>
              <a:rPr b="0" lang="pt-PT" sz="1400" strike="noStrike" u="none">
                <a:solidFill>
                  <a:srgbClr val="0f1115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Modelar e criar o banco de dados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15000"/>
              </a:lnSpc>
              <a:spcBef>
                <a:spcPts val="1199"/>
              </a:spcBef>
              <a:buClr>
                <a:srgbClr val="0f1115"/>
              </a:buClr>
              <a:buFont typeface="Arial"/>
              <a:buChar char="●"/>
            </a:pPr>
            <a:r>
              <a:rPr b="0" lang="pt-PT" sz="1400" strike="noStrike" u="none">
                <a:solidFill>
                  <a:srgbClr val="0f1115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Automatizar a geração de facturas para todos os serviços.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15000"/>
              </a:lnSpc>
              <a:buClr>
                <a:srgbClr val="0f1115"/>
              </a:buClr>
              <a:buFont typeface="Arial"/>
              <a:buChar char="●"/>
            </a:pPr>
            <a:r>
              <a:rPr b="0" lang="pt-PT" sz="1400" strike="noStrike" u="none">
                <a:solidFill>
                  <a:srgbClr val="0f1115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Criar um módulo de registo de pagamentos.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15000"/>
              </a:lnSpc>
              <a:buClr>
                <a:srgbClr val="0f1115"/>
              </a:buClr>
              <a:buFont typeface="Arial"/>
              <a:buChar char="●"/>
            </a:pPr>
            <a:r>
              <a:rPr b="0" lang="pt-PT" sz="1400" strike="noStrike" u="none">
                <a:solidFill>
                  <a:srgbClr val="0f1115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Criar relatórios financeiros detalhados (mensais, anuais, por estudante, turma ou serviço)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15000"/>
              </a:lnSpc>
              <a:buClr>
                <a:srgbClr val="0f1115"/>
              </a:buClr>
              <a:buFont typeface="Arial"/>
              <a:buChar char="●"/>
            </a:pPr>
            <a:r>
              <a:rPr b="0" lang="pt-PT" sz="1400" strike="noStrike" u="none">
                <a:solidFill>
                  <a:srgbClr val="0f1115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Criar um módulo de notificação automática para encarregados, sobre os status da mensalidade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15000"/>
              </a:lnSpc>
              <a:buClr>
                <a:srgbClr val="0f1115"/>
              </a:buClr>
              <a:buFont typeface="Arial"/>
              <a:buChar char="●"/>
            </a:pPr>
            <a:r>
              <a:rPr b="0" lang="pt-PT" sz="1400" strike="noStrike" u="none">
                <a:solidFill>
                  <a:srgbClr val="0f1115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Garantir a segurança de dados e rastreabilidade através de logs de auditoria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104;p20"/>
          <p:cNvSpPr/>
          <p:nvPr/>
        </p:nvSpPr>
        <p:spPr>
          <a:xfrm>
            <a:off x="523440" y="638640"/>
            <a:ext cx="505224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Metodologia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06;p20"/>
          <p:cNvSpPr/>
          <p:nvPr/>
        </p:nvSpPr>
        <p:spPr>
          <a:xfrm>
            <a:off x="523440" y="1138320"/>
            <a:ext cx="751680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Metodologia de Investigação:</a:t>
            </a:r>
            <a:r>
              <a:rPr b="0" lang="pt-PT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Quantitativa (análise de dados financeiros e medição de resultados).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Metodologia de Desenvolvimento:</a:t>
            </a:r>
            <a:r>
              <a:rPr b="0" lang="pt-PT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Ágil (entregas iterativas, adaptação a mudanças e feedback contínuo).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6000"/>
              </a:lnSpc>
              <a:spcBef>
                <a:spcPts val="1199"/>
              </a:spcBef>
              <a:tabLst>
                <a:tab algn="l" pos="0"/>
              </a:tabLst>
            </a:pP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11;p21"/>
          <p:cNvSpPr/>
          <p:nvPr/>
        </p:nvSpPr>
        <p:spPr>
          <a:xfrm>
            <a:off x="549000" y="638640"/>
            <a:ext cx="328968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Tecnologias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m 1" descr="Uma imagem com desenho, clipart, Gráficos, elefante&#10;&#10;Os conteúdos gerados por IA poderão estar incorretos."/>
          <p:cNvPicPr/>
          <p:nvPr/>
        </p:nvPicPr>
        <p:blipFill>
          <a:blip r:embed="rId1"/>
          <a:stretch/>
        </p:blipFill>
        <p:spPr>
          <a:xfrm>
            <a:off x="2247480" y="1358640"/>
            <a:ext cx="1572480" cy="1064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Imagem 2" descr="Uma imagem com design, logótipo, Gráficos, Tipo de letra&#10;&#10;Os conteúdos gerados por IA poderão estar incorretos."/>
          <p:cNvPicPr/>
          <p:nvPr/>
        </p:nvPicPr>
        <p:blipFill>
          <a:blip r:embed="rId2"/>
          <a:srcRect l="0" t="-4284" r="-18212" b="-9629"/>
          <a:stretch/>
        </p:blipFill>
        <p:spPr>
          <a:xfrm>
            <a:off x="3671640" y="2934360"/>
            <a:ext cx="1787040" cy="178596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</p:pic>
      <p:pic>
        <p:nvPicPr>
          <p:cNvPr id="59" name="Imagem 3" descr="Uma imagem com texto, Gráficos, design gráfico, Tipo de letra&#10;&#10;Os conteúdos gerados por IA poderão estar incorretos."/>
          <p:cNvPicPr/>
          <p:nvPr/>
        </p:nvPicPr>
        <p:blipFill>
          <a:blip r:embed="rId3"/>
          <a:stretch/>
        </p:blipFill>
        <p:spPr>
          <a:xfrm>
            <a:off x="5707080" y="2684880"/>
            <a:ext cx="2816640" cy="188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Imagem 4" descr="Uma imagem com Gráficos, Tipo de letra, logótipo, design gráfico&#10;&#10;Os conteúdos gerados por IA poderão estar incorretos."/>
          <p:cNvPicPr/>
          <p:nvPr/>
        </p:nvPicPr>
        <p:blipFill>
          <a:blip r:embed="rId4"/>
          <a:stretch/>
        </p:blipFill>
        <p:spPr>
          <a:xfrm>
            <a:off x="486000" y="2984040"/>
            <a:ext cx="2863800" cy="158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Imagem 5" descr="Uma imagem com coração, logótipo, Gráficos, design&#10;&#10;Os conteúdos gerados por IA poderão estar incorretos."/>
          <p:cNvPicPr/>
          <p:nvPr/>
        </p:nvPicPr>
        <p:blipFill>
          <a:blip r:embed="rId5"/>
          <a:stretch/>
        </p:blipFill>
        <p:spPr>
          <a:xfrm>
            <a:off x="5010120" y="1101240"/>
            <a:ext cx="1579320" cy="157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aixaDeTexto 3"/>
          <p:cNvSpPr/>
          <p:nvPr/>
        </p:nvSpPr>
        <p:spPr>
          <a:xfrm>
            <a:off x="603720" y="641520"/>
            <a:ext cx="4568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PT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Ferramentas 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Imagem 4" descr="Uma imagem com Azul elétrico, símbolo, Retângulo, azul&#10;&#10;Os conteúdos gerados por IA poderão estar incorretos."/>
          <p:cNvPicPr/>
          <p:nvPr/>
        </p:nvPicPr>
        <p:blipFill>
          <a:blip r:embed="rId1"/>
          <a:stretch/>
        </p:blipFill>
        <p:spPr>
          <a:xfrm>
            <a:off x="1041840" y="1414080"/>
            <a:ext cx="1632960" cy="163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Gráfico 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880000" y="2880000"/>
            <a:ext cx="3048480" cy="162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Imagem 6" descr="Uma imagem com preto, escuridão&#10;&#10;Os conteúdos gerados por IA poderão estar incorretos."/>
          <p:cNvPicPr/>
          <p:nvPr/>
        </p:nvPicPr>
        <p:blipFill>
          <a:blip r:embed="rId4"/>
          <a:stretch/>
        </p:blipFill>
        <p:spPr>
          <a:xfrm>
            <a:off x="5661000" y="1412640"/>
            <a:ext cx="3199320" cy="179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5"/>
          <a:stretch/>
        </p:blipFill>
        <p:spPr>
          <a:xfrm>
            <a:off x="3671280" y="971280"/>
            <a:ext cx="1548000" cy="154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89;p18"/>
          <p:cNvSpPr/>
          <p:nvPr/>
        </p:nvSpPr>
        <p:spPr>
          <a:xfrm>
            <a:off x="536400" y="625680"/>
            <a:ext cx="15652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Requisitos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0;p18"/>
          <p:cNvSpPr/>
          <p:nvPr/>
        </p:nvSpPr>
        <p:spPr>
          <a:xfrm>
            <a:off x="536400" y="1087560"/>
            <a:ext cx="7721280" cy="17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Requisitos Funcionais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RF01 </a:t>
            </a: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– </a:t>
            </a: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Emissão de Faturação Digital: O sistema deve permitir a geração de faturas detalhadas para todos os serviços académicos.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RF02 </a:t>
            </a: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– Gestão de Emolumentos e Multas: O sistema deve calcular automaticamente sanções pecuniárias por atrasos.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0;p18"/>
          <p:cNvSpPr/>
          <p:nvPr/>
        </p:nvSpPr>
        <p:spPr>
          <a:xfrm>
            <a:off x="536400" y="2834280"/>
            <a:ext cx="7721280" cy="17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Requisitos Não Funcionais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RNF01 </a:t>
            </a: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– Controlo de Acesso e Autenticação: O sistema deve implementar protocolos de autenticação segura, garantindo que apenas utilizadores autorizados acedam a informações sensíveis.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RNF02 </a:t>
            </a: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– Auditoria e Rastreabilidade (Logs): Todas as transações financeiras e alterações críticas de dados devem ser registadas em </a:t>
            </a:r>
            <a:r>
              <a:rPr b="0" i="1" lang="pt-BR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logs</a:t>
            </a: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permitindo a identificação do autor, data e hora da operação.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26;p23"/>
          <p:cNvSpPr/>
          <p:nvPr/>
        </p:nvSpPr>
        <p:spPr>
          <a:xfrm>
            <a:off x="523440" y="638640"/>
            <a:ext cx="30852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Diagrama de Caso de Uso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2136960" y="967680"/>
            <a:ext cx="5961960" cy="410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38;p25"/>
          <p:cNvSpPr/>
          <p:nvPr/>
        </p:nvSpPr>
        <p:spPr>
          <a:xfrm>
            <a:off x="357480" y="727920"/>
            <a:ext cx="1795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DER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m 1" descr="Uma imagem com diagrama, texto, desenho, file&#10;&#10;Os conteúdos gerados por IA poderão estar incorretos."/>
          <p:cNvPicPr/>
          <p:nvPr/>
        </p:nvPicPr>
        <p:blipFill>
          <a:blip r:embed="rId1"/>
          <a:stretch/>
        </p:blipFill>
        <p:spPr>
          <a:xfrm>
            <a:off x="1260000" y="542880"/>
            <a:ext cx="7466400" cy="395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aixaDeTexto 66"/>
          <p:cNvSpPr/>
          <p:nvPr/>
        </p:nvSpPr>
        <p:spPr>
          <a:xfrm>
            <a:off x="360000" y="360000"/>
            <a:ext cx="233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Arquitetura Lógica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m 67" descr=""/>
          <p:cNvPicPr/>
          <p:nvPr/>
        </p:nvPicPr>
        <p:blipFill>
          <a:blip r:embed="rId1"/>
          <a:stretch/>
        </p:blipFill>
        <p:spPr>
          <a:xfrm>
            <a:off x="3012120" y="360000"/>
            <a:ext cx="3208680" cy="462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aixaDeTexto 68"/>
          <p:cNvSpPr/>
          <p:nvPr/>
        </p:nvSpPr>
        <p:spPr>
          <a:xfrm>
            <a:off x="360000" y="360000"/>
            <a:ext cx="287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Arquitetura de Software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m 69" descr=""/>
          <p:cNvPicPr/>
          <p:nvPr/>
        </p:nvPicPr>
        <p:blipFill>
          <a:blip r:embed="rId1"/>
          <a:stretch/>
        </p:blipFill>
        <p:spPr>
          <a:xfrm>
            <a:off x="3302280" y="54360"/>
            <a:ext cx="2628720" cy="498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aixaDeTexto 70"/>
          <p:cNvSpPr/>
          <p:nvPr/>
        </p:nvSpPr>
        <p:spPr>
          <a:xfrm>
            <a:off x="360000" y="360000"/>
            <a:ext cx="2122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Arquitetura Física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m 71" descr=""/>
          <p:cNvPicPr/>
          <p:nvPr/>
        </p:nvPicPr>
        <p:blipFill>
          <a:blip r:embed="rId1"/>
          <a:stretch/>
        </p:blipFill>
        <p:spPr>
          <a:xfrm>
            <a:off x="2102760" y="900000"/>
            <a:ext cx="5027400" cy="359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44;p26"/>
          <p:cNvSpPr/>
          <p:nvPr/>
        </p:nvSpPr>
        <p:spPr>
          <a:xfrm>
            <a:off x="536400" y="625680"/>
            <a:ext cx="15015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Conclusão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45;p26"/>
          <p:cNvSpPr/>
          <p:nvPr/>
        </p:nvSpPr>
        <p:spPr>
          <a:xfrm>
            <a:off x="536400" y="1087560"/>
            <a:ext cx="7478280" cy="23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26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pt-PT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 implementação do Sistema Integrado de Gestão e Processamento de Pagamentos representa um avanço significativo para o Colégio Mona Tower. O sistema reduz erros, melhora a eficiência dos processos, aumenta a transparência e facilita o acesso às informações financeiras.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647</TotalTime>
  <Application>LibreOffice/25.2.2.2$Linux_X86_64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pt-PT</dc:language>
  <cp:lastModifiedBy/>
  <dcterms:modified xsi:type="dcterms:W3CDTF">2026-05-18T09:39:13Z</dcterms:modified>
  <cp:revision>198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Apresentação no Ecrã (16:9)</vt:lpwstr>
  </property>
  <property fmtid="{D5CDD505-2E9C-101B-9397-08002B2CF9AE}" pid="3" name="Slides">
    <vt:i4>18</vt:i4>
  </property>
</Properties>
</file>