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  <p:sldId id="267" r:id="rId14"/>
    <p:sldId id="268" r:id="rId15"/>
    <p:sldId id="269" r:id="rId16"/>
    <p:sldId id="272" r:id="rId17"/>
  </p:sldIdLst>
  <p:sldSz cx="9144000" cy="5143500" type="screen16x9"/>
  <p:notesSz cx="7559675" cy="10691813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B71E5-B544-46A5-BD5E-838399FC70A4}" v="3" dt="2026-05-10T19:50:59.359"/>
    <p1510:client id="{C4091688-A97B-4B0E-A795-1BA6403BB0FA}" v="1" dt="2026-05-10T19:58:17.7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6520" cy="3412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000015-3E70-4F48-A467-7F09F34F656F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4040" cy="751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9999"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4040" cy="3175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91DB5A-382D-44B9-929D-831FF6AF1E01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6000" cy="3412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6000" cy="3412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BDFBE8-8F24-49BB-A894-1574CF71BACC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B8D008-DCD2-49B8-9380-2A994B49347F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3720" cy="4086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88047E-F97E-418C-8D63-9634AE684AD0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36;p9"/>
          <p:cNvSpPr/>
          <p:nvPr/>
        </p:nvSpPr>
        <p:spPr>
          <a:xfrm>
            <a:off x="4572000" y="0"/>
            <a:ext cx="4568040" cy="5139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1360" cy="147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2920" cy="3691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1DE023-3390-435A-BB06-D1F4BAE926AD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4720" cy="601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14D839-142B-4E5D-AAE6-AA1F79E0E1DB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6520" cy="2048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8B5417-4C06-4048-9D17-45B36EEE3EED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16520" cy="195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16520" cy="1296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00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59EC53-BF28-4B49-8D91-16210101F9ED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7D5153-3E4B-454F-A086-B93E3CFAECDF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1652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2D7670-D5D9-4FC0-B716-86CF49F97A47}" type="slidenum">
              <a:rPr lang="pt-PT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54;p13"/>
          <p:cNvPicPr/>
          <p:nvPr/>
        </p:nvPicPr>
        <p:blipFill>
          <a:blip r:embed="rId2"/>
          <a:stretch/>
        </p:blipFill>
        <p:spPr>
          <a:xfrm>
            <a:off x="4080960" y="385920"/>
            <a:ext cx="978120" cy="97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Google Shape;55;p13"/>
          <p:cNvSpPr/>
          <p:nvPr/>
        </p:nvSpPr>
        <p:spPr>
          <a:xfrm>
            <a:off x="2187720" y="1367640"/>
            <a:ext cx="4764600" cy="57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pt-PT" sz="1200" b="1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INSTITUTO POLITÉCNICO INDUSTRIAL DO KILAMBA KIAXI</a:t>
            </a:r>
            <a:r>
              <a:rPr lang="pt-PT" sz="1200" b="0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pt-PT" sz="1200" b="1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Nº 8056 “NOVA VIDA”</a:t>
            </a:r>
            <a:r>
              <a:rPr lang="pt-PT" sz="1200" b="0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pt-PT" sz="1800" b="0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56;p13"/>
          <p:cNvPicPr/>
          <p:nvPr/>
        </p:nvPicPr>
        <p:blipFill>
          <a:blip r:embed="rId3"/>
          <a:stretch/>
        </p:blipFill>
        <p:spPr>
          <a:xfrm>
            <a:off x="4128120" y="1943640"/>
            <a:ext cx="883800" cy="85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Google Shape;57;p13"/>
          <p:cNvSpPr/>
          <p:nvPr/>
        </p:nvSpPr>
        <p:spPr>
          <a:xfrm>
            <a:off x="2692440" y="2800800"/>
            <a:ext cx="3755520" cy="35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2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COMPLEXO ESCOLAR PRIVADO MONA TOWER</a:t>
            </a:r>
            <a:r>
              <a:rPr lang="pt-PT" sz="12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 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58;p13"/>
          <p:cNvSpPr/>
          <p:nvPr/>
        </p:nvSpPr>
        <p:spPr>
          <a:xfrm>
            <a:off x="1446480" y="3162600"/>
            <a:ext cx="6246720" cy="97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pos="0" algn="l"/>
              </a:tabLst>
            </a:pP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pt-PT" sz="12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SISTEMA INTEGRADO DE GESTÃO E PROCESSAMENTO DE PAGAMENTOS PARA O COLÉGIO MONA TOWER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80000"/>
              </a:lnSpc>
              <a:spcBef>
                <a:spcPts val="99"/>
              </a:spcBef>
              <a:tabLst>
                <a:tab pos="0" algn="l"/>
              </a:tabLst>
            </a:pP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9;p13"/>
          <p:cNvSpPr/>
          <p:nvPr/>
        </p:nvSpPr>
        <p:spPr>
          <a:xfrm>
            <a:off x="3975840" y="4666680"/>
            <a:ext cx="1188360" cy="47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rmAutofit fontScale="25000" lnSpcReduction="19999"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pt-PT" sz="4800" b="0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Luanda​</a:t>
            </a:r>
            <a:endParaRPr lang="pt-PT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pt-PT" sz="4800" b="0" u="none" strike="noStrik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2025/26</a:t>
            </a:r>
            <a:endParaRPr lang="pt-PT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64;p14"/>
          <p:cNvSpPr/>
          <p:nvPr/>
        </p:nvSpPr>
        <p:spPr>
          <a:xfrm>
            <a:off x="3020400" y="638640"/>
            <a:ext cx="3099240" cy="66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Cristiano Alexandre Kamati Glória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 José Emanuel Rosário Preto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65;p14"/>
          <p:cNvSpPr/>
          <p:nvPr/>
        </p:nvSpPr>
        <p:spPr>
          <a:xfrm>
            <a:off x="647280" y="2088000"/>
            <a:ext cx="7845120" cy="112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pos="0" algn="l"/>
              </a:tabLst>
            </a:pP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6000"/>
              </a:lnSpc>
              <a:spcBef>
                <a:spcPts val="1199"/>
              </a:spcBef>
              <a:spcAft>
                <a:spcPts val="99"/>
              </a:spcAft>
              <a:tabLst>
                <a:tab pos="0" algn="l"/>
              </a:tabLst>
            </a:pPr>
            <a:r>
              <a:rPr lang="pt-PT" sz="12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SISTEMA INTEGRADO DE GESTÃO E PROCESSAMENTO DE PAGAMENTOS PARA O COLÉGIO MONA TOWER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66;p14"/>
          <p:cNvSpPr/>
          <p:nvPr/>
        </p:nvSpPr>
        <p:spPr>
          <a:xfrm>
            <a:off x="3978000" y="4701600"/>
            <a:ext cx="99180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Luanda​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2025/26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71;p15"/>
          <p:cNvSpPr/>
          <p:nvPr/>
        </p:nvSpPr>
        <p:spPr>
          <a:xfrm>
            <a:off x="549000" y="623160"/>
            <a:ext cx="280872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Situação Problemática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2;p15"/>
          <p:cNvSpPr/>
          <p:nvPr/>
        </p:nvSpPr>
        <p:spPr>
          <a:xfrm>
            <a:off x="549000" y="1085040"/>
            <a:ext cx="7711560" cy="319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O Colégio Mona Tower enfrenta dificuldades financeiras devido a processos manuais e à falta de integração entre os setores. Esta fragmentação pode causar falhas no controlo de dívidas e inconsistência nos dados, comprometendo o fluxo de caixa e a tomada de decisão estratégica.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77;p16"/>
          <p:cNvSpPr/>
          <p:nvPr/>
        </p:nvSpPr>
        <p:spPr>
          <a:xfrm>
            <a:off x="537120" y="627840"/>
            <a:ext cx="2688120" cy="5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Problema de Pesquisa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8;p16"/>
          <p:cNvSpPr/>
          <p:nvPr/>
        </p:nvSpPr>
        <p:spPr>
          <a:xfrm>
            <a:off x="537120" y="1318680"/>
            <a:ext cx="7913880" cy="83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26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pt-PT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Como tornar a gestão financeira do colégio Mona Tower mais fiável e eficiente? 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6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83;p17"/>
          <p:cNvSpPr/>
          <p:nvPr/>
        </p:nvSpPr>
        <p:spPr>
          <a:xfrm>
            <a:off x="549000" y="625680"/>
            <a:ext cx="1285920" cy="46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Hipóteses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84;p17"/>
          <p:cNvSpPr/>
          <p:nvPr/>
        </p:nvSpPr>
        <p:spPr>
          <a:xfrm>
            <a:off x="540000" y="1271160"/>
            <a:ext cx="7760520" cy="322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15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1º Desenvolver um sistema integrado de gestão e processamento de pagamentos.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2º Adquirir um software comercial de gestão escolar com módulos financeiros pré-definidos.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89;p18"/>
          <p:cNvSpPr/>
          <p:nvPr/>
        </p:nvSpPr>
        <p:spPr>
          <a:xfrm>
            <a:off x="536400" y="625680"/>
            <a:ext cx="156672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Justificativa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90;p18"/>
          <p:cNvSpPr/>
          <p:nvPr/>
        </p:nvSpPr>
        <p:spPr>
          <a:xfrm>
            <a:off x="536400" y="1087560"/>
            <a:ext cx="7722720" cy="174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 sistema é necessário para modernizar a gestão financeira da instituição, reduzindo a dependência de processos manuais. A solução facilitará a comunicação entre encarregados e administração, garantindo simultaneamente segurança e rastreabilidade dos dados. Adicionalmente, permitirá aumentar significativamente a transparência e eficiência das operações financeiras do colégio.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95;p19"/>
          <p:cNvSpPr/>
          <p:nvPr/>
        </p:nvSpPr>
        <p:spPr>
          <a:xfrm>
            <a:off x="549000" y="625680"/>
            <a:ext cx="132408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Objetivos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96;p19"/>
          <p:cNvSpPr/>
          <p:nvPr/>
        </p:nvSpPr>
        <p:spPr>
          <a:xfrm>
            <a:off x="549000" y="1087560"/>
            <a:ext cx="15541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 Geral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97;p19"/>
          <p:cNvSpPr/>
          <p:nvPr/>
        </p:nvSpPr>
        <p:spPr>
          <a:xfrm>
            <a:off x="549000" y="1487880"/>
            <a:ext cx="7237080" cy="85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26000"/>
              </a:lnSpc>
              <a:spcBef>
                <a:spcPts val="1199"/>
              </a:spcBef>
              <a:spcAft>
                <a:spcPts val="799"/>
              </a:spcAft>
              <a:tabLst>
                <a:tab pos="0" algn="l"/>
              </a:tabLst>
            </a:pPr>
            <a:r>
              <a:rPr lang="pt-PT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Criar uma plataforma robusta, segura e eficiente que permita ao colégio melhorar o controlo financeiro.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98;p19"/>
          <p:cNvSpPr/>
          <p:nvPr/>
        </p:nvSpPr>
        <p:spPr>
          <a:xfrm>
            <a:off x="549000" y="2301840"/>
            <a:ext cx="2103120" cy="39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Objetivos Específicos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99;p19"/>
          <p:cNvSpPr/>
          <p:nvPr/>
        </p:nvSpPr>
        <p:spPr>
          <a:xfrm>
            <a:off x="549000" y="2647800"/>
            <a:ext cx="7543800" cy="203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marL="457200" indent="-317520" defTabSz="914400">
              <a:lnSpc>
                <a:spcPct val="115000"/>
              </a:lnSpc>
              <a:spcBef>
                <a:spcPts val="1199"/>
              </a:spcBef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Modelar e criar o banco de dados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spcBef>
                <a:spcPts val="1199"/>
              </a:spcBef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Automatizar a geração de facturas para todos os serviços.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um módulo de registo de pagamentos.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relatórios financeiros detalhados (mensais, anuais, por estudante, turma ou serviço)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um módulo de notificação automática para encarregados, sobre os status da mensalidade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lang="pt-PT" sz="1400" b="0" u="none" strike="noStrik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Garantir a segurança de dados e rastreabilidade através de logs de auditoria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104;p20"/>
          <p:cNvSpPr/>
          <p:nvPr/>
        </p:nvSpPr>
        <p:spPr>
          <a:xfrm>
            <a:off x="523440" y="638640"/>
            <a:ext cx="5053680" cy="49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Metodologia de Investigação Cientifica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Google Shape;105;p20"/>
          <p:cNvSpPr/>
          <p:nvPr/>
        </p:nvSpPr>
        <p:spPr>
          <a:xfrm>
            <a:off x="523440" y="1136520"/>
            <a:ext cx="2371320" cy="49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Metodologia Quantitativa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106;p20"/>
          <p:cNvSpPr/>
          <p:nvPr/>
        </p:nvSpPr>
        <p:spPr>
          <a:xfrm>
            <a:off x="523440" y="1634400"/>
            <a:ext cx="7518240" cy="265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26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pt-PT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metodologia adoptada é a metodologia quantitativa que foca na recolha e análise de dados.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11;p21"/>
          <p:cNvSpPr/>
          <p:nvPr/>
        </p:nvSpPr>
        <p:spPr>
          <a:xfrm>
            <a:off x="549000" y="638640"/>
            <a:ext cx="3291120" cy="49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Tecnologias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m 1" descr="Uma imagem com desenho, clipart, Gráficos, elefante&#10;&#10;Os conteúdos gerados por IA poderão estar incorretos."/>
          <p:cNvPicPr/>
          <p:nvPr/>
        </p:nvPicPr>
        <p:blipFill>
          <a:blip r:embed="rId2"/>
          <a:stretch/>
        </p:blipFill>
        <p:spPr>
          <a:xfrm>
            <a:off x="2247480" y="1358640"/>
            <a:ext cx="1573920" cy="106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Imagem 2" descr="Uma imagem com design, logótipo, Gráficos, Tipo de letra&#10;&#10;Os conteúdos gerados por IA poderão estar incorretos."/>
          <p:cNvPicPr/>
          <p:nvPr/>
        </p:nvPicPr>
        <p:blipFill>
          <a:blip r:embed="rId3"/>
          <a:srcRect t="-4284" r="-18212" b="-9629"/>
          <a:stretch/>
        </p:blipFill>
        <p:spPr>
          <a:xfrm>
            <a:off x="3671640" y="2934360"/>
            <a:ext cx="1788480" cy="17874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</p:pic>
      <p:pic>
        <p:nvPicPr>
          <p:cNvPr id="58" name="Imagem 3" descr="Uma imagem com texto, Gráficos, design gráfico, Tipo de letra&#10;&#10;Os conteúdos gerados por IA poderão estar incorretos."/>
          <p:cNvPicPr/>
          <p:nvPr/>
        </p:nvPicPr>
        <p:blipFill>
          <a:blip r:embed="rId4"/>
          <a:stretch/>
        </p:blipFill>
        <p:spPr>
          <a:xfrm>
            <a:off x="5707080" y="2684880"/>
            <a:ext cx="2818080" cy="188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Imagem 4" descr="Uma imagem com Gráficos, Tipo de letra, logótipo, design gráfico&#10;&#10;Os conteúdos gerados por IA poderão estar incorretos."/>
          <p:cNvPicPr/>
          <p:nvPr/>
        </p:nvPicPr>
        <p:blipFill>
          <a:blip r:embed="rId5"/>
          <a:stretch/>
        </p:blipFill>
        <p:spPr>
          <a:xfrm>
            <a:off x="486000" y="2984040"/>
            <a:ext cx="2865240" cy="158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Imagem 5" descr="Uma imagem com coração, logótipo, Gráficos, design&#10;&#10;Os conteúdos gerados por IA poderão estar incorretos."/>
          <p:cNvPicPr/>
          <p:nvPr/>
        </p:nvPicPr>
        <p:blipFill>
          <a:blip r:embed="rId6"/>
          <a:stretch/>
        </p:blipFill>
        <p:spPr>
          <a:xfrm>
            <a:off x="5010120" y="1101240"/>
            <a:ext cx="1580760" cy="158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aixaDeTexto 3"/>
          <p:cNvSpPr/>
          <p:nvPr/>
        </p:nvSpPr>
        <p:spPr>
          <a:xfrm>
            <a:off x="603720" y="641520"/>
            <a:ext cx="457020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Ferramentas 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m 4" descr="Uma imagem com Azul elétrico, símbolo, Retângulo, azul&#10;&#10;Os conteúdos gerados por IA poderão estar incorretos."/>
          <p:cNvPicPr/>
          <p:nvPr/>
        </p:nvPicPr>
        <p:blipFill>
          <a:blip r:embed="rId2"/>
          <a:stretch/>
        </p:blipFill>
        <p:spPr>
          <a:xfrm>
            <a:off x="1041840" y="1414080"/>
            <a:ext cx="1634400" cy="163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ráfico 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889720" y="2570040"/>
            <a:ext cx="3049920" cy="162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Imagem 6" descr="Uma imagem com preto, escuridão&#10;&#10;Os conteúdos gerados por IA poderão estar incorretos."/>
          <p:cNvPicPr/>
          <p:nvPr/>
        </p:nvPicPr>
        <p:blipFill>
          <a:blip r:embed="rId4"/>
          <a:stretch/>
        </p:blipFill>
        <p:spPr>
          <a:xfrm>
            <a:off x="5661000" y="1412640"/>
            <a:ext cx="3200760" cy="179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126;p23"/>
          <p:cNvSpPr/>
          <p:nvPr/>
        </p:nvSpPr>
        <p:spPr>
          <a:xfrm>
            <a:off x="523440" y="638640"/>
            <a:ext cx="308664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Diagrama de Caso de Uso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m 73"/>
          <p:cNvPicPr/>
          <p:nvPr/>
        </p:nvPicPr>
        <p:blipFill>
          <a:blip r:embed="rId2"/>
          <a:stretch/>
        </p:blipFill>
        <p:spPr>
          <a:xfrm>
            <a:off x="2160000" y="1089720"/>
            <a:ext cx="5218560" cy="3588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138;p25"/>
          <p:cNvSpPr/>
          <p:nvPr/>
        </p:nvSpPr>
        <p:spPr>
          <a:xfrm>
            <a:off x="357480" y="727920"/>
            <a:ext cx="1796760" cy="36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DER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m 1" descr="Uma imagem com diagrama, texto, desenho, file&#10;&#10;Os conteúdos gerados por IA poderão estar incorretos."/>
          <p:cNvPicPr/>
          <p:nvPr/>
        </p:nvPicPr>
        <p:blipFill>
          <a:blip r:embed="rId2"/>
          <a:stretch/>
        </p:blipFill>
        <p:spPr>
          <a:xfrm>
            <a:off x="414360" y="1170360"/>
            <a:ext cx="8313480" cy="359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aixaDeTexto 66"/>
          <p:cNvSpPr txBox="1"/>
          <p:nvPr/>
        </p:nvSpPr>
        <p:spPr>
          <a:xfrm>
            <a:off x="360000" y="36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Lógica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Imagem 67"/>
          <p:cNvPicPr/>
          <p:nvPr/>
        </p:nvPicPr>
        <p:blipFill>
          <a:blip r:embed="rId2"/>
          <a:stretch/>
        </p:blipFill>
        <p:spPr>
          <a:xfrm>
            <a:off x="3012120" y="360000"/>
            <a:ext cx="3210120" cy="4625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aixaDeTexto 68"/>
          <p:cNvSpPr txBox="1"/>
          <p:nvPr/>
        </p:nvSpPr>
        <p:spPr>
          <a:xfrm>
            <a:off x="360000" y="360000"/>
            <a:ext cx="288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de Software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m 69"/>
          <p:cNvPicPr/>
          <p:nvPr/>
        </p:nvPicPr>
        <p:blipFill>
          <a:blip r:embed="rId2"/>
          <a:stretch/>
        </p:blipFill>
        <p:spPr>
          <a:xfrm>
            <a:off x="3302280" y="54360"/>
            <a:ext cx="2630160" cy="4985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aixaDeTexto 70"/>
          <p:cNvSpPr txBox="1"/>
          <p:nvPr/>
        </p:nvSpPr>
        <p:spPr>
          <a:xfrm>
            <a:off x="360000" y="360000"/>
            <a:ext cx="212400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Física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2102760" y="900000"/>
            <a:ext cx="5028840" cy="360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44;p26"/>
          <p:cNvSpPr/>
          <p:nvPr/>
        </p:nvSpPr>
        <p:spPr>
          <a:xfrm>
            <a:off x="536400" y="625680"/>
            <a:ext cx="15030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Conclusão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45;p26"/>
          <p:cNvSpPr/>
          <p:nvPr/>
        </p:nvSpPr>
        <p:spPr>
          <a:xfrm>
            <a:off x="536400" y="1087560"/>
            <a:ext cx="7479720" cy="237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26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pt-PT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implementação do Sistema Integrado de Gestão e Processamento de Pagamentos representa um avanço significativo para o Colégio Mona Tower. O sistema reduz erros, melhora a eficiência dos processos, aumenta a transparência e facilita o acesso às informações financeiras.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</TotalTime>
  <Application>Microsoft Office PowerPoint</Application>
  <PresentationFormat>Apresentação no Ecrã (16:9)</PresentationFormat>
  <Slides>16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16</vt:i4>
      </vt:variant>
    </vt:vector>
  </HeadingPairs>
  <TitlesOfParts>
    <vt:vector size="17" baseType="lpstr"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/>
  <cp:revision>109</cp:revision>
  <dcterms:modified xsi:type="dcterms:W3CDTF">2026-05-10T19:59:24Z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Apresentação no Ecrã (16:9)</vt:lpwstr>
  </property>
  <property fmtid="{D5CDD505-2E9C-101B-9397-08002B2CF9AE}" pid="3" name="Slides">
    <vt:i4>15</vt:i4>
  </property>
</Properties>
</file>